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three questions. Emphasise the cost asymmetry: retaining is 5-25x cheaper than acquiring.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coherent, reproducible pipeline: all four course topics + a DL extension, driven by a CLI/submission-builder, guarded by tests + a validator, with the report/slides/README generated from one metrics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DBSCAN's negative silhouette is the textbook signal that density-based clustering fails on heavy-tail RFM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Recency-churn structural correlation here — we revisit it in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slide. Pause here. Explain the gap is the synthesis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Multi-Faceted Customer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An End-to-End Data Mining Pipeline on Online Retail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Data Mining 2026 —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1F1F"/>
                </a:solidFill>
              </a:rPr>
              <a:t>Team 4 — University of Information Technology, VNU-HCM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Nguyen Minh Cuong (22520177)   •   Vo Thanh Danh (22520201)   •   Nguyen Vinh Dat (22520228)   •   Nguyen Huu Dinh (22520251)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02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Three siloed questions every retailer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1F1F"/>
                </a:solidFill>
              </a:rPr>
              <a:t>•  WHO are my customers? — segmentation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1F1F"/>
                </a:solidFill>
              </a:rPr>
              <a:t>•  WHO will leave? — churn prediction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1F1F"/>
                </a:solidFill>
              </a:rPr>
              <a:t>•  WHAT do they buy together? — basket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Solved in isolation, these analyses miss the joint signal that drives retention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280160"/>
            <a:ext cx="3840480" cy="411480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4630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4653"/>
                </a:solidFill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76F51"/>
                </a:solidFill>
              </a:rPr>
              <a:t>+5%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74903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customer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2062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drives 25–95% profit growth
(Bain &amp; Co.)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Dataset — UCI Online Retail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UK-centric online retailer, 2009-12 to 2011-12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128016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64653"/>
                </a:solidFill>
              </a:rPr>
              <a:t>1.07M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raw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657600" cy="128016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64653"/>
                </a:solidFill>
              </a:rPr>
              <a:t>805K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after 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657600" cy="128016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64653"/>
                </a:solidFill>
              </a:rPr>
              <a:t>5,878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unique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3657600" cy="128016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64653"/>
                </a:solidFill>
              </a:rPr>
              <a:t>4,631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stock 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834640"/>
            <a:ext cx="3657600" cy="128016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971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64653"/>
                </a:solidFill>
              </a:rP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countries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834640"/>
            <a:ext cx="3657600" cy="1280160"/>
          </a:xfrm>
          <a:prstGeom prst="round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64653"/>
                </a:solidFill>
              </a:rPr>
              <a:t>2 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time span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Columns (8, all transaction-level): Invoice · StockCode · Description · Quantity · Price · InvoiceDate · CustomerID · Country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4653"/>
                </a:solidFill>
              </a:rPr>
              <a:t>No customer attributes (name / contact / demographics) exist beyond the CustomerID key — a null CustomerID therefore carries no recoverable customer information.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Source: https://archive.ics.uci.edu/dataset/502/online+retail+ii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Users &amp; automation → entry points → pipeline services → artifact stores</a:t>
            </a:r>
          </a:p>
        </p:txBody>
      </p:sp>
      <p:pic>
        <p:nvPicPr>
          <p:cNvPr id="4" name="Picture 3" descr="0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8357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From raw 1.07M rows to clean 805K rows — only 24.5% dropped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Drop 22.8% rows with null CustomerID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Remove cancellation invoices (prefix 'C')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Drop non-positive Quantity / Price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Winsorize Quantity &amp; Price at 1%/99% quantiles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Derive TotalAmount = Quantity × Price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Compute RFM + behavioral features per customer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Label churn: no activity in 90 d after 2011-09-01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23444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Filter removed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of raw rows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Missing CustomerID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22.8%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Cancellation invoices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1.8%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Non-positive Qty /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2.4%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Total rows 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</a:rPr>
                        <a:t>24.5%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33375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4653"/>
                </a:solidFill>
              </a:rPr>
              <a:t>Dropping null-CustomerID rows is mandatory (RFM / churn are per-customer) yet costs only 3.5% of units &amp; 13.7% of revenue — almost no purchasing signal lost.</a:t>
            </a:r>
          </a:p>
        </p:txBody>
      </p:sp>
      <p:pic>
        <p:nvPicPr>
          <p:cNvPr id="7" name="Picture 6" descr="0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4206240"/>
            <a:ext cx="6035040" cy="1880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963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Quantity / Price / TotalAmount distributions after winsorization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EDA — Revenue &amp; Customer Pareto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Q4 seasonality + top 20% of customers drive most revenue</a:t>
            </a:r>
          </a:p>
        </p:txBody>
      </p:sp>
      <p:pic>
        <p:nvPicPr>
          <p:cNvPr id="4" name="Picture 3" descr="01_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60720" cy="3645936"/>
          </a:xfrm>
          <a:prstGeom prst="rect">
            <a:avLst/>
          </a:prstGeom>
        </p:spPr>
      </p:pic>
      <p:pic>
        <p:nvPicPr>
          <p:cNvPr id="5" name="Picture 4" descr="01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760720" cy="3846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EDA — Top Products &amp; Export Countries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Long-tail product mix; concentrated international demand</a:t>
            </a:r>
          </a:p>
        </p:txBody>
      </p:sp>
      <p:pic>
        <p:nvPicPr>
          <p:cNvPr id="4" name="Picture 3" descr="01_top_products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3865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Customer Segmentation — Three Algorithms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K-means vs DBSCAN vs AGNES on log-transformed RFM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85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Silhouette ↑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Davies-B ↓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Calinski-H ↑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KMeans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0.419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0.886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5840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-0.120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1.632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742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AGNES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0.388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4304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</a:rPr>
              <a:t>•  K-means k=2 wins silhouette (0.42) — best partitional fit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</a:rPr>
              <a:t>•  DBSCAN fragments into 13 + noise — wrong fit for heavy-tail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</a:rPr>
              <a:t>•  AGNES Ward close second; chosen k=2 confirmed by dendrogram</a:t>
            </a:r>
          </a:p>
        </p:txBody>
      </p:sp>
      <p:pic>
        <p:nvPicPr>
          <p:cNvPr id="6" name="Picture 5" descr="02_kmean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4297680" cy="25919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Two Customer Segments — Crystal Clear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Dormant (54%) vs Active loyal (46%)</a:t>
            </a:r>
          </a:p>
        </p:txBody>
      </p:sp>
      <p:pic>
        <p:nvPicPr>
          <p:cNvPr id="4" name="Picture 3" descr="02_clust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39886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280160"/>
            <a:ext cx="4114800" cy="210312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Dormant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2024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Recency  317 d
Frequency  1.85
Monetary  £496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566160"/>
            <a:ext cx="4114800" cy="210312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3703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Active loyal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20624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Recency  63 d
Frequency  11.55
Monetary  £5,206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2-D Projection — PCA &amp; t-SNE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Clean separation along the first principal component</a:t>
            </a:r>
          </a:p>
        </p:txBody>
      </p:sp>
      <p:pic>
        <p:nvPicPr>
          <p:cNvPr id="4" name="Picture 3" descr="02_pca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972800" cy="45519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Churn Classification — 7 Models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5-fold CV + held-out test; SMOTE inside folds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914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0.711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0.744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0.703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GaussianNB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0.766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SVM_RBF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0.738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DecisionTree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0.696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MLP (PyTorch)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0.721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03_roc_clas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4297680" cy="38735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Best Model — LogisticRegression (AUC 0.785)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RandomForest within 0.003 · MLP AUC 0.783</a:t>
            </a:r>
          </a:p>
        </p:txBody>
      </p:sp>
      <p:pic>
        <p:nvPicPr>
          <p:cNvPr id="4" name="Picture 3" descr="03_cm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029200" cy="4094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</a:rPr>
              <a:t>•  AUC 0.7850 · F1 0.7392 · Recall 0.7110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</a:rPr>
              <a:t>•  MLP test: AUC 0.7832 · Precision 0.7561 · Recall 0.7209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</a:rPr>
              <a:t>•  Classical and MLP converge — feature ceiling on RFM+behavioural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</a:rPr>
              <a:t>•  → classical models preferred (cheaper, interpretable)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</a:rPr>
              <a:t>•  → DL would need richer signals (sequences, sessions) to pull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Explainability — SHAP on RandomForest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Recency dominates; behavioural features add the rest</a:t>
            </a:r>
          </a:p>
        </p:txBody>
      </p:sp>
      <p:pic>
        <p:nvPicPr>
          <p:cNvPr id="4" name="Picture 3" descr="05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943600" cy="3991738"/>
          </a:xfrm>
          <a:prstGeom prst="rect">
            <a:avLst/>
          </a:prstGeom>
        </p:spPr>
      </p:pic>
      <p:pic>
        <p:nvPicPr>
          <p:cNvPr id="5" name="Picture 4" descr="03_rf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80160"/>
            <a:ext cx="5212080" cy="2734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Market Basket — Apriori vs FP-Growth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Same 242 itemsets, 17 rules at lift ≥ 1.5 — FP-Growth 1.5× faster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Itemsets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Rules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Runtime (s)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Apriori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7.15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FP-Growth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</a:rPr>
                        <a:t>4.25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04_apriori_vs_fp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570613" cy="3017520"/>
          </a:xfrm>
          <a:prstGeom prst="rect">
            <a:avLst/>
          </a:prstGeom>
        </p:spPr>
      </p:pic>
      <p:pic>
        <p:nvPicPr>
          <p:cNvPr id="6" name="Picture 5" descr="04_rule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486400" cy="3685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Top Association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Strongest signals = collectible sets + color-variant pairs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Antecedent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Consequent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Conf.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ROSES REGENCY TEACUP AND SAUCER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GREEN REGENCY TEACUP AND SAUCER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26.8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GREEN REGENCY TEACUP AND SAUCER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ROSES REGENCY TEACUP AND SAUCER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26.8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SWEETHEART CERAMIC TRINKET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STRAWBERRY CERAMIC TRINKET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13.9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WOODEN PICTURE FRAME WHITE FINISH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WOODEN FRAME ANTIQUE 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12.1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WOODEN FRAME ANTIQUE 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WOODEN PICTURE FRAME WHITE FINISH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</a:rPr>
                        <a:t>12.1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04_rul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389120" cy="33157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6858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</a:rPr>
              <a:t>Pattern: customers who buy one item from a colour or themed set frequently complete the set. Operational use: post-purchase recommendations and bundled retention offers.
Rules are mined on customer-attributed invoices only — consistent with the per-segment rules, and excluding anonymous wholesale/bulk baskets.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Deep Learning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MLP for churn + Autoencoder for anomaly detection</a:t>
            </a:r>
          </a:p>
        </p:txBody>
      </p:sp>
      <p:pic>
        <p:nvPicPr>
          <p:cNvPr id="4" name="Picture 3" descr="05_mlp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760720" cy="1757945"/>
          </a:xfrm>
          <a:prstGeom prst="rect">
            <a:avLst/>
          </a:prstGeom>
        </p:spPr>
      </p:pic>
      <p:pic>
        <p:nvPicPr>
          <p:cNvPr id="5" name="Picture 4" descr="05_autoen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760720" cy="1757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MLP [64,32,16] with SMOTE + early stopping reaches test AUC 0.783 (F1 0.738, precision 0.756) — on par with the best classical model. Autoencoder (bottleneck=4) flags the top 5% of customers by reconstruction error as anomalies — candidates for VIP review or fraud screening.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 HEADLINE FINDING — Churn Rate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67-percentage-point gap between segments</a:t>
            </a:r>
          </a:p>
        </p:txBody>
      </p:sp>
      <p:pic>
        <p:nvPicPr>
          <p:cNvPr id="4" name="Picture 3" descr="06_churn_by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890525" cy="31089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72000"/>
          <a:ext cx="7132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1426464"/>
                <a:gridCol w="1426464"/>
                <a:gridCol w="1426464"/>
                <a:gridCol w="142646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Churn %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Avg Recency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Avg Monetary (£)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Dormant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2,697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367.9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519.5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Active loyal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2,552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23.0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65.2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</a:rPr>
                        <a:t>5,401.2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5,249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57.4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280160"/>
            <a:ext cx="4114800" cy="42976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Dormant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926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Active loyal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3832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5720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67-point churn gap
→ segment-aware retention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Loyal Segment Buys in Colour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Per-segment FP-Growth recovers cross-sell opportunities</a:t>
            </a:r>
          </a:p>
        </p:txBody>
      </p:sp>
      <p:pic>
        <p:nvPicPr>
          <p:cNvPr id="4" name="Picture 3" descr="06_segment_product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655716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</a:rPr>
              <a:t>•  Pink Lunchbag → Red
Lunchbag (lift 7.4)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</a:rPr>
              <a:t>•  Pink Jumbo Bag → Red
Jumbo Bag (lift 6.4)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</a:rPr>
              <a:t>•  Red Heart T-light →
White Heart T-light (5.3)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321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4653"/>
                </a:solidFill>
              </a:rPr>
              <a:t>Recommendation: target the 23% churners in the loyal segment with colour-pair bundles. Use win-back campaigns (not bundles) for the dormant majority.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Honest caveats — and where we'd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4653"/>
                </a:solidFill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Leakage fix: supervised features built strictly before 2011-09-01 — best AUC now a realistic 0.785 (full-history features were inflated)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Recency dominant but not sufficient — ablation without it drops AUC to 0.75; baselines: majority 0.50, recency-only 0.75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Single retailer, UK-centric, 2 yrs — generalisability untested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No demographic attributes available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Dormant segment too sparse for in-cluster rules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Anomaly threshold purely percentile-based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4653"/>
                </a:solidFill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Transformer on purchase sequences (next-basket + churn jointly)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Uplift modelling: who responds best to retention offers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Cross-retailer transfer to test segment-rule stability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1F1F"/>
                </a:solidFill>
              </a:rPr>
              <a:t>•  Domain-labelled fraud / VIP ground truth for anomalies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Conclusion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Q&amp;A — happy to discuss any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4653"/>
                </a:solidFill>
              </a:rPr>
              <a:t>One pipeline, four course topics, one business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</a:rPr>
              <a:t>•  Segmentation: K-means k=2, Silhouette 0.42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</a:rPr>
              <a:t>•  Classification: LogisticRegression AUC 0.785 · MLP AUC 0.783 (leakage-safe pre-cutoff features)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</a:rPr>
              <a:t>•  Association: 17 rules, FP-Growth 1.5× faster, top lift 26.8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F1F1F"/>
                </a:solidFill>
              </a:rPr>
              <a:t>•  ★ Synthesis: 67-pt churn gap → colour-pair retention bundles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Code, report &amp; slides — Team 4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Team 4 — Cuong · Danh · Dat · Dinh    •    UIT, VNU-HCM    •    02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Team 4 — Multi-Faceted Customer Intelligence (Online Retail 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